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1" r:id="rId3"/>
    <p:sldId id="262" r:id="rId4"/>
    <p:sldId id="280" r:id="rId5"/>
    <p:sldId id="289" r:id="rId6"/>
    <p:sldId id="283" r:id="rId7"/>
    <p:sldId id="284" r:id="rId8"/>
    <p:sldId id="285" r:id="rId9"/>
    <p:sldId id="286" r:id="rId10"/>
    <p:sldId id="288" r:id="rId11"/>
    <p:sldId id="287" r:id="rId12"/>
    <p:sldId id="279" r:id="rId1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kdgkwkd27/LCH_RTS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kdgkwkd27/LCH_RTS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 rtlCol="0"/>
        <a:lstStyle/>
        <a:p>
          <a:pPr rtl="0"/>
          <a:endParaRPr lang="en-US"/>
        </a:p>
      </dgm:t>
    </dgm:pt>
    <dgm:pt modelId="{40FC4FFE-8987-4A26-B7F4-8A516F18ADAE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en-US" altLang="ko" dirty="0">
              <a:latin typeface="+mj-ea"/>
              <a:ea typeface="+mj-ea"/>
            </a:rPr>
            <a:t>1. </a:t>
          </a:r>
          <a:r>
            <a:rPr lang="en-US" altLang="ko" dirty="0" err="1">
              <a:latin typeface="+mj-ea"/>
              <a:ea typeface="+mj-ea"/>
            </a:rPr>
            <a:t>Os</a:t>
          </a:r>
          <a:r>
            <a:rPr lang="en-US" altLang="ko" dirty="0">
              <a:latin typeface="+mj-ea"/>
              <a:ea typeface="+mj-ea"/>
            </a:rPr>
            <a:t>: WINDOWS 11</a:t>
          </a:r>
        </a:p>
        <a:p>
          <a:pPr rtl="0">
            <a:lnSpc>
              <a:spcPct val="100000"/>
            </a:lnSpc>
            <a:defRPr cap="all"/>
          </a:pPr>
          <a:r>
            <a:rPr lang="en-US" altLang="ko" dirty="0">
              <a:latin typeface="+mj-ea"/>
              <a:ea typeface="+mj-ea"/>
            </a:rPr>
            <a:t>2. Tool: VS2022, Rider</a:t>
          </a:r>
        </a:p>
        <a:p>
          <a:pPr rtl="0">
            <a:lnSpc>
              <a:spcPct val="100000"/>
            </a:lnSpc>
            <a:defRPr cap="all"/>
          </a:pPr>
          <a:r>
            <a:rPr lang="en-US" altLang="ko" dirty="0">
              <a:latin typeface="+mj-ea"/>
              <a:ea typeface="+mj-ea"/>
            </a:rPr>
            <a:t>3. CPU: </a:t>
          </a:r>
          <a:r>
            <a:rPr lang="it-IT" altLang="ko" dirty="0">
              <a:latin typeface="+mj-ea"/>
              <a:ea typeface="+mj-ea"/>
            </a:rPr>
            <a:t>AMD Ryzen 9 7900</a:t>
          </a:r>
        </a:p>
        <a:p>
          <a:pPr rtl="0">
            <a:lnSpc>
              <a:spcPct val="100000"/>
            </a:lnSpc>
            <a:defRPr cap="all"/>
          </a:pPr>
          <a:r>
            <a:rPr lang="it-IT" altLang="ko" dirty="0">
              <a:latin typeface="+mj-ea"/>
              <a:ea typeface="+mj-ea"/>
            </a:rPr>
            <a:t>4. Ram: 32gb</a:t>
          </a:r>
          <a:endParaRPr lang="en-US" altLang="ko" dirty="0">
            <a:latin typeface="+mj-ea"/>
            <a:ea typeface="+mj-ea"/>
          </a:endParaRPr>
        </a:p>
        <a:p>
          <a:pPr rtl="0">
            <a:lnSpc>
              <a:spcPct val="100000"/>
            </a:lnSpc>
            <a:defRPr cap="all"/>
          </a:pPr>
          <a:endParaRPr lang="ko" dirty="0">
            <a:latin typeface="+mj-ea"/>
            <a:ea typeface="+mj-ea"/>
          </a:endParaRPr>
        </a:p>
      </dgm:t>
    </dgm:pt>
    <dgm:pt modelId="{CAD7EF86-FB23-41F6-BF42-040B36DEFDB1}" type="parTrans" cxnId="{C7AD8469-3C68-4AF9-AB82-79B0043AA120}">
      <dgm:prSet/>
      <dgm:spPr/>
      <dgm:t>
        <a:bodyPr rtlCol="0"/>
        <a:lstStyle/>
        <a:p>
          <a:pPr rtl="0"/>
          <a:endParaRPr lang="en-US"/>
        </a:p>
      </dgm:t>
    </dgm:pt>
    <dgm:pt modelId="{5B62599A-5C9B-48E7-896E-EA782AC60C8B}" type="sibTrans" cxnId="{C7AD8469-3C68-4AF9-AB82-79B0043AA120}">
      <dgm:prSet/>
      <dgm:spPr/>
      <dgm:t>
        <a:bodyPr rtlCol="0"/>
        <a:lstStyle/>
        <a:p>
          <a:pPr rtl="0"/>
          <a:endParaRPr lang="en-US"/>
        </a:p>
      </dgm:t>
    </dgm:pt>
    <dgm:pt modelId="{49225C73-1633-42F1-AB3B-7CB183E5F8B8}">
      <dgm:prSet custT="1"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ko-KR" altLang="en-US" sz="1100" dirty="0" err="1">
              <a:latin typeface="+mj-ea"/>
              <a:ea typeface="+mj-ea"/>
            </a:rPr>
            <a:t>깃허브</a:t>
          </a:r>
          <a:r>
            <a:rPr lang="en-US" altLang="ko-KR" sz="1100" dirty="0">
              <a:latin typeface="+mj-ea"/>
              <a:ea typeface="+mj-ea"/>
            </a:rPr>
            <a:t>: </a:t>
          </a:r>
          <a:r>
            <a:rPr lang="en-US" altLang="ko-KR" sz="1100" dirty="0">
              <a:latin typeface="+mj-ea"/>
              <a:ea typeface="+mj-ea"/>
              <a:hlinkClick xmlns:r="http://schemas.openxmlformats.org/officeDocument/2006/relationships" r:id="rId1"/>
            </a:rPr>
            <a:t>https://github.com/ckdgkwkd27/LCH_RTS</a:t>
          </a:r>
          <a:endParaRPr lang="en-US" altLang="ko-KR" sz="1100" dirty="0">
            <a:latin typeface="+mj-ea"/>
            <a:ea typeface="+mj-ea"/>
          </a:endParaRPr>
        </a:p>
        <a:p>
          <a:pPr rtl="0">
            <a:lnSpc>
              <a:spcPct val="100000"/>
            </a:lnSpc>
            <a:defRPr cap="all"/>
          </a:pPr>
          <a:endParaRPr lang="en-US" altLang="ko-KR" sz="1100" dirty="0">
            <a:latin typeface="+mj-ea"/>
            <a:ea typeface="+mj-ea"/>
          </a:endParaRPr>
        </a:p>
      </dgm:t>
    </dgm:pt>
    <dgm:pt modelId="{1A0E2090-1D4F-438A-8766-B6030CE01ADD}" type="parTrans" cxnId="{A9154303-8225-4248-91DC-1B0156A35F07}">
      <dgm:prSet/>
      <dgm:spPr/>
      <dgm:t>
        <a:bodyPr rtlCol="0"/>
        <a:lstStyle/>
        <a:p>
          <a:pPr rtl="0"/>
          <a:endParaRPr lang="en-US"/>
        </a:p>
      </dgm:t>
    </dgm:pt>
    <dgm:pt modelId="{9646853A-8964-4519-A5B1-0B7D18B2983D}" type="sibTrans" cxnId="{A9154303-8225-4248-91DC-1B0156A35F07}">
      <dgm:prSet/>
      <dgm:spPr/>
      <dgm:t>
        <a:bodyPr rtlCol="0"/>
        <a:lstStyle/>
        <a:p>
          <a:pPr rtl="0"/>
          <a:endParaRPr lang="en-US"/>
        </a:p>
      </dgm:t>
    </dgm:pt>
    <dgm:pt modelId="{1C383F32-22E8-4F62-A3E0-BDC3D5F48992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endParaRPr lang="en-US" altLang="ko" dirty="0">
            <a:latin typeface="+mj-ea"/>
            <a:ea typeface="+mj-ea"/>
          </a:endParaRPr>
        </a:p>
        <a:p>
          <a:pPr rtl="0">
            <a:lnSpc>
              <a:spcPct val="100000"/>
            </a:lnSpc>
            <a:defRPr cap="all"/>
          </a:pPr>
          <a:r>
            <a:rPr lang="en-US" altLang="ko" dirty="0">
              <a:latin typeface="+mj-ea"/>
              <a:ea typeface="+mj-ea"/>
            </a:rPr>
            <a:t>Server: C#, </a:t>
          </a:r>
          <a:r>
            <a:rPr lang="en-US" altLang="ko" dirty="0" err="1">
              <a:latin typeface="+mj-ea"/>
              <a:ea typeface="+mj-ea"/>
            </a:rPr>
            <a:t>flatbuffer</a:t>
          </a:r>
          <a:endParaRPr lang="en-US" altLang="ko" dirty="0">
            <a:latin typeface="+mj-ea"/>
            <a:ea typeface="+mj-ea"/>
          </a:endParaRPr>
        </a:p>
        <a:p>
          <a:pPr rtl="0">
            <a:lnSpc>
              <a:spcPct val="100000"/>
            </a:lnSpc>
            <a:defRPr cap="all"/>
          </a:pPr>
          <a:r>
            <a:rPr lang="en-US" altLang="ko" dirty="0">
              <a:latin typeface="+mj-ea"/>
              <a:ea typeface="+mj-ea"/>
            </a:rPr>
            <a:t>Client: unity, </a:t>
          </a:r>
          <a:r>
            <a:rPr lang="en-US" altLang="ko" dirty="0" err="1">
              <a:latin typeface="+mj-ea"/>
              <a:ea typeface="+mj-ea"/>
            </a:rPr>
            <a:t>flatbuffer</a:t>
          </a:r>
          <a:endParaRPr lang="en-US" altLang="ko" dirty="0">
            <a:latin typeface="+mj-ea"/>
            <a:ea typeface="+mj-ea"/>
          </a:endParaRPr>
        </a:p>
      </dgm:t>
    </dgm:pt>
    <dgm:pt modelId="{A7920A2F-3244-4159-AF04-6A1D38B7B317}" type="parTrans" cxnId="{C4CCE57E-E871-46D6-BAD5-880252C95D22}">
      <dgm:prSet/>
      <dgm:spPr/>
      <dgm:t>
        <a:bodyPr rtlCol="0"/>
        <a:lstStyle/>
        <a:p>
          <a:pPr rtl="0"/>
          <a:endParaRPr lang="en-US"/>
        </a:p>
      </dgm:t>
    </dgm:pt>
    <dgm:pt modelId="{8500F72A-2C6D-4FDF-9C1D-CA691380EB0B}" type="sibTrans" cxnId="{C4CCE57E-E871-46D6-BAD5-880252C95D22}">
      <dgm:prSet/>
      <dgm:spPr/>
      <dgm:t>
        <a:bodyPr rtlCol="0"/>
        <a:lstStyle/>
        <a:p>
          <a:pPr rtl="0"/>
          <a:endParaRPr lang="en-US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/>
      <dgm:spPr/>
    </dgm:pt>
    <dgm:pt modelId="{7C175B98-93F4-4D7C-BB95-1514AB879CD5}" type="pres">
      <dgm:prSet presAssocID="{40FC4FFE-8987-4A26-B7F4-8A516F18ADAE}" presName="iconRect" presStyleLbl="node1" presStyleIdx="0" presStyleCnt="3"/>
      <dgm:spPr>
        <a:solidFill>
          <a:schemeClr val="accent2"/>
        </a:solid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 custLinFactNeighborX="2683" custLinFactNeighborY="-2383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/>
      <dgm:spPr/>
    </dgm:pt>
    <dgm:pt modelId="{DB4CA7C4-FCA1-4127-B20A-2A5C031A3CF4}" type="pres">
      <dgm:prSet presAssocID="{49225C73-1633-42F1-AB3B-7CB183E5F8B8}" presName="iconRect" presStyleLbl="node1" presStyleIdx="1" presStyleCnt="3"/>
      <dgm:spPr>
        <a:solidFill>
          <a:schemeClr val="accent3"/>
        </a:solid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 custScaleX="125833" custLinFactX="36263" custLinFactNeighborX="100000" custLinFactNeighborY="-12744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/>
      <dgm:spPr>
        <a:solidFill>
          <a:schemeClr val="accent4"/>
        </a:solidFill>
      </dgm:spPr>
    </dgm:pt>
    <dgm:pt modelId="{39509775-983E-4110-B989-EE2CD6514BE0}" type="pres">
      <dgm:prSet presAssocID="{1C383F32-22E8-4F62-A3E0-BDC3D5F48992}" presName="iconRect" presStyleLbl="node1" presStyleIdx="2" presStyleCnt="3" custLinFactNeighborX="728" custLinFactNeighborY="12246"/>
      <dgm:spPr>
        <a:solidFill>
          <a:schemeClr val="accent4"/>
        </a:solid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 custLinFactX="-25399" custLinFactNeighborX="-100000" custLinFactNeighborY="-29805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1071749" y="17806"/>
          <a:ext cx="1612687" cy="16126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1415436" y="361493"/>
          <a:ext cx="925312" cy="925312"/>
        </a:xfrm>
        <a:prstGeom prst="rect">
          <a:avLst/>
        </a:prstGeom>
        <a:solidFill>
          <a:schemeClr val="accent2"/>
        </a:solid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627149" y="1757436"/>
          <a:ext cx="2643750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ko" sz="1100" kern="1200" dirty="0">
              <a:latin typeface="+mj-ea"/>
              <a:ea typeface="+mj-ea"/>
            </a:rPr>
            <a:t>1. </a:t>
          </a:r>
          <a:r>
            <a:rPr lang="en-US" altLang="ko" sz="1100" kern="1200" dirty="0" err="1">
              <a:latin typeface="+mj-ea"/>
              <a:ea typeface="+mj-ea"/>
            </a:rPr>
            <a:t>Os</a:t>
          </a:r>
          <a:r>
            <a:rPr lang="en-US" altLang="ko" sz="1100" kern="1200" dirty="0">
              <a:latin typeface="+mj-ea"/>
              <a:ea typeface="+mj-ea"/>
            </a:rPr>
            <a:t>: WINDOWS 11</a:t>
          </a:r>
        </a:p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ko" sz="1100" kern="1200" dirty="0">
              <a:latin typeface="+mj-ea"/>
              <a:ea typeface="+mj-ea"/>
            </a:rPr>
            <a:t>2. Tool: VS2022, Rider</a:t>
          </a:r>
        </a:p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ko" sz="1100" kern="1200" dirty="0">
              <a:latin typeface="+mj-ea"/>
              <a:ea typeface="+mj-ea"/>
            </a:rPr>
            <a:t>3. CPU: </a:t>
          </a:r>
          <a:r>
            <a:rPr lang="it-IT" altLang="ko" sz="1100" kern="1200" dirty="0">
              <a:latin typeface="+mj-ea"/>
              <a:ea typeface="+mj-ea"/>
            </a:rPr>
            <a:t>AMD Ryzen 9 7900</a:t>
          </a:r>
        </a:p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altLang="ko" sz="1100" kern="1200" dirty="0">
              <a:latin typeface="+mj-ea"/>
              <a:ea typeface="+mj-ea"/>
            </a:rPr>
            <a:t>4. Ram: 32gb</a:t>
          </a:r>
          <a:endParaRPr lang="en-US" altLang="ko" sz="1100" kern="1200" dirty="0">
            <a:latin typeface="+mj-ea"/>
            <a:ea typeface="+mj-ea"/>
          </a:endParaRPr>
        </a:p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ko" sz="1100" kern="1200" dirty="0">
            <a:latin typeface="+mj-ea"/>
            <a:ea typeface="+mj-ea"/>
          </a:endParaRPr>
        </a:p>
      </dsp:txBody>
      <dsp:txXfrm>
        <a:off x="627149" y="1757436"/>
        <a:ext cx="2643750" cy="1575000"/>
      </dsp:txXfrm>
    </dsp:sp>
    <dsp:sp modelId="{BCD8CDD9-0C56-4401-ADB1-8B48DAB2C96F}">
      <dsp:nvSpPr>
        <dsp:cNvPr id="0" name=""/>
        <dsp:cNvSpPr/>
      </dsp:nvSpPr>
      <dsp:spPr>
        <a:xfrm>
          <a:off x="4519635" y="17806"/>
          <a:ext cx="1612687" cy="16126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4863322" y="361493"/>
          <a:ext cx="925312" cy="925312"/>
        </a:xfrm>
        <a:prstGeom prst="rect">
          <a:avLst/>
        </a:prstGeom>
        <a:solidFill>
          <a:schemeClr val="accent3"/>
        </a:solid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7265077" y="1932088"/>
          <a:ext cx="3326709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ko-KR" altLang="en-US" sz="1100" kern="1200" dirty="0" err="1">
              <a:latin typeface="+mj-ea"/>
              <a:ea typeface="+mj-ea"/>
            </a:rPr>
            <a:t>깃허브</a:t>
          </a:r>
          <a:r>
            <a:rPr lang="en-US" altLang="ko-KR" sz="1100" kern="1200" dirty="0">
              <a:latin typeface="+mj-ea"/>
              <a:ea typeface="+mj-ea"/>
            </a:rPr>
            <a:t>: </a:t>
          </a:r>
          <a:r>
            <a:rPr lang="en-US" altLang="ko-KR" sz="1100" kern="1200" dirty="0">
              <a:latin typeface="+mj-ea"/>
              <a:ea typeface="+mj-ea"/>
              <a:hlinkClick xmlns:r="http://schemas.openxmlformats.org/officeDocument/2006/relationships" r:id="rId1"/>
            </a:rPr>
            <a:t>https://github.com/ckdgkwkd27/LCH_RTS</a:t>
          </a:r>
          <a:endParaRPr lang="en-US" altLang="ko-KR" sz="1100" kern="1200" dirty="0">
            <a:latin typeface="+mj-ea"/>
            <a:ea typeface="+mj-ea"/>
          </a:endParaRPr>
        </a:p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altLang="ko-KR" sz="1100" kern="1200" dirty="0">
            <a:latin typeface="+mj-ea"/>
            <a:ea typeface="+mj-ea"/>
          </a:endParaRPr>
        </a:p>
      </dsp:txBody>
      <dsp:txXfrm>
        <a:off x="7265077" y="1932088"/>
        <a:ext cx="3326709" cy="1575000"/>
      </dsp:txXfrm>
    </dsp:sp>
    <dsp:sp modelId="{FF93E135-77D6-48A0-8871-9BC93D705D06}">
      <dsp:nvSpPr>
        <dsp:cNvPr id="0" name=""/>
        <dsp:cNvSpPr/>
      </dsp:nvSpPr>
      <dsp:spPr>
        <a:xfrm>
          <a:off x="7967521" y="17806"/>
          <a:ext cx="1612687" cy="1612687"/>
        </a:xfrm>
        <a:prstGeom prst="ellipse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8317945" y="474807"/>
          <a:ext cx="925312" cy="925312"/>
        </a:xfrm>
        <a:prstGeom prst="rect">
          <a:avLst/>
        </a:prstGeom>
        <a:solidFill>
          <a:schemeClr val="accent4"/>
        </a:solid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4136754" y="1663377"/>
          <a:ext cx="2643750" cy="157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altLang="ko" sz="1100" kern="1200" dirty="0">
            <a:latin typeface="+mj-ea"/>
            <a:ea typeface="+mj-ea"/>
          </a:endParaRPr>
        </a:p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ko" sz="1100" kern="1200" dirty="0">
              <a:latin typeface="+mj-ea"/>
              <a:ea typeface="+mj-ea"/>
            </a:rPr>
            <a:t>Server: C#, </a:t>
          </a:r>
          <a:r>
            <a:rPr lang="en-US" altLang="ko" sz="1100" kern="1200" dirty="0" err="1">
              <a:latin typeface="+mj-ea"/>
              <a:ea typeface="+mj-ea"/>
            </a:rPr>
            <a:t>flatbuffer</a:t>
          </a:r>
          <a:endParaRPr lang="en-US" altLang="ko" sz="1100" kern="1200" dirty="0">
            <a:latin typeface="+mj-ea"/>
            <a:ea typeface="+mj-ea"/>
          </a:endParaRPr>
        </a:p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altLang="ko" sz="1100" kern="1200" dirty="0">
              <a:latin typeface="+mj-ea"/>
              <a:ea typeface="+mj-ea"/>
            </a:rPr>
            <a:t>Client: unity, </a:t>
          </a:r>
          <a:r>
            <a:rPr lang="en-US" altLang="ko" sz="1100" kern="1200" dirty="0" err="1">
              <a:latin typeface="+mj-ea"/>
              <a:ea typeface="+mj-ea"/>
            </a:rPr>
            <a:t>flatbuffer</a:t>
          </a:r>
          <a:endParaRPr lang="en-US" altLang="ko" sz="1100" kern="1200" dirty="0">
            <a:latin typeface="+mj-ea"/>
            <a:ea typeface="+mj-ea"/>
          </a:endParaRPr>
        </a:p>
      </dsp:txBody>
      <dsp:txXfrm>
        <a:off x="4136754" y="1663377"/>
        <a:ext cx="2643750" cy="157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F839092-15F8-4C72-A6BC-E11C1D12CDAA}" type="datetime1">
              <a:rPr lang="ko-KR" altLang="en-US" smtClean="0"/>
              <a:t>2025-09-02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834EDFF-C18C-466F-B693-08283F9FE7CF}" type="datetime1">
              <a:rPr lang="ko-KR" altLang="en-US" smtClean="0"/>
              <a:t>2025-09-02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"/>
              <a:t>마스터 텍스트 스타일을 편집하려면 클릭하세요.</a:t>
            </a:r>
            <a:endParaRPr lang="en-US"/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+mj-ea"/>
              <a:ea typeface="+mj-ea"/>
            </a:endParaRPr>
          </a:p>
        </p:txBody>
      </p:sp>
      <p:sp useBgFill="1">
        <p:nvSpPr>
          <p:cNvPr id="10" name="직사각형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직사각형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직사각형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직선 연결선(S)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" dirty="0"/>
              <a:t>마스터 제목 스타일</a:t>
            </a:r>
            <a:br>
              <a:rPr lang="en-US" altLang="ko" dirty="0"/>
            </a:br>
            <a:r>
              <a:rPr lang="ko" dirty="0"/>
              <a:t>편집</a:t>
            </a:r>
            <a:endParaRPr 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20" name="날짜 개체 틀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fld id="{0421086B-92A0-4D22-94D7-207C8E029793}" type="datetime1">
              <a:rPr lang="ko-KR" altLang="en-US" smtClean="0"/>
              <a:t>2025-09-02</a:t>
            </a:fld>
            <a:endParaRPr lang="en-US" dirty="0"/>
          </a:p>
        </p:txBody>
      </p:sp>
      <p:sp>
        <p:nvSpPr>
          <p:cNvPr id="21" name="바닥글 개체 틀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2EABA43C-120F-4415-98B3-372D2FECC855}" type="datetime1">
              <a:rPr lang="ko-KR" altLang="en-US" smtClean="0"/>
              <a:t>2025-09-02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+mj-ea"/>
              <a:ea typeface="+mj-ea"/>
            </a:endParaRPr>
          </a:p>
        </p:txBody>
      </p:sp>
      <p:sp useBgFill="1">
        <p:nvSpPr>
          <p:cNvPr id="23" name="직사각형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직사각형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직사각형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" dirty="0"/>
              <a:t>마스터 제목 스타일</a:t>
            </a:r>
            <a:br>
              <a:rPr lang="en-US" altLang="ko" dirty="0"/>
            </a:br>
            <a:r>
              <a:rPr lang="ko" dirty="0"/>
              <a:t>편집</a:t>
            </a:r>
            <a:endParaRPr 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(S)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j-ea"/>
                <a:ea typeface="+mj-ea"/>
                <a:cs typeface="+mn-cs"/>
              </a:defRPr>
            </a:lvl1pPr>
          </a:lstStyle>
          <a:p>
            <a:fld id="{7A3EB572-C624-418B-8597-163D90616FC8}" type="datetime1">
              <a:rPr lang="ko-KR" altLang="en-US" smtClean="0"/>
              <a:t>2025-09-02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BE760CE9-DAAA-4235-992F-BD3E0145916A}" type="datetime1">
              <a:rPr lang="ko-KR" altLang="en-US" smtClean="0"/>
              <a:t>2025-09-02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12DB1AE6-F89A-4A3B-A7FF-0FB649FB73D9}" type="datetime1">
              <a:rPr lang="ko-KR" altLang="en-US" smtClean="0"/>
              <a:t>2025-09-02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D692FE0A-EA49-4D7D-9497-837FBECB3F6B}" type="datetime1">
              <a:rPr lang="ko-KR" altLang="en-US" smtClean="0"/>
              <a:t>2025-09-02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56FBB2DF-47A9-40D1-8CCE-28FE2873E83F}" type="datetime1">
              <a:rPr lang="ko-KR" altLang="en-US" smtClean="0"/>
              <a:t>2025-09-02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" dirty="0"/>
              <a:t>마스터 제목</a:t>
            </a:r>
            <a:br>
              <a:rPr lang="en-US" altLang="ko" dirty="0"/>
            </a:br>
            <a:r>
              <a:rPr lang="ko" dirty="0"/>
              <a:t>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" dirty="0"/>
              <a:t>마스터 텍스트 스타일을</a:t>
            </a:r>
            <a:br>
              <a:rPr lang="en-US" altLang="ko" dirty="0"/>
            </a:br>
            <a:r>
              <a:rPr lang="ko" dirty="0"/>
              <a:t>편집하려면 클릭하세요.</a:t>
            </a:r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490B79C2-6C94-403B-8C2C-F3D94681D3D0}" type="datetime1">
              <a:rPr lang="ko-KR" altLang="en-US" smtClean="0"/>
              <a:t>2025-09-02</a:t>
            </a:fld>
            <a:endParaRPr 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그림 개체 틀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>
                <a:latin typeface="+mj-ea"/>
                <a:ea typeface="+mj-ea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fld id="{85759F83-5FB7-41EB-8B77-54D18451864A}" type="datetime1">
              <a:rPr lang="ko-KR" altLang="en-US" smtClean="0"/>
              <a:t>2025-09-02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algn="l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" dirty="0"/>
              <a:t>마스터 제목</a:t>
            </a:r>
            <a:br>
              <a:rPr lang="en-US" altLang="ko" dirty="0"/>
            </a:br>
            <a:r>
              <a:rPr lang="ko" dirty="0"/>
              <a:t>스타일 편집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" dirty="0"/>
              <a:t>마스터 텍스트 스타일을</a:t>
            </a:r>
            <a:br>
              <a:rPr lang="en-US" altLang="ko" dirty="0"/>
            </a:br>
            <a:r>
              <a:rPr lang="ko" dirty="0"/>
              <a:t>편집하려면 클릭하세요.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9AA789D4-F75C-46F1-A8E1-B49D7553F821}" type="datetime1">
              <a:rPr lang="ko-KR" altLang="en-US" smtClean="0"/>
              <a:t>2025-09-02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6E95217A-41F5-40B0-A1B1-26DD36AFCC5B}" type="datetime1">
              <a:rPr lang="ko-KR" altLang="en-US" smtClean="0"/>
              <a:t>2025-09-02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직사각형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98D2B5FF-957F-493E-A036-A1B14CB1BDF4}" type="datetime1">
              <a:rPr lang="ko-KR" altLang="en-US" smtClean="0"/>
              <a:t>2025-09-02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ea"/>
          <a:ea typeface="+mj-ea"/>
          <a:cs typeface="+mn-cs"/>
        </a:defRPr>
      </a:lvl1pPr>
    </p:titleStyle>
    <p:bodyStyle>
      <a:lvl1pPr marL="182880" indent="-182880" algn="l" defTabSz="914400" rtl="0" eaLnBrk="1" latinLnBrk="1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j-ea"/>
          <a:ea typeface="+mj-ea"/>
          <a:cs typeface="+mn-cs"/>
        </a:defRPr>
      </a:lvl2pPr>
      <a:lvl3pPr marL="73152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j-ea"/>
          <a:ea typeface="+mj-ea"/>
          <a:cs typeface="+mn-cs"/>
        </a:defRPr>
      </a:lvl3pPr>
      <a:lvl4pPr marL="100584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j-ea"/>
          <a:ea typeface="+mj-ea"/>
          <a:cs typeface="+mn-cs"/>
        </a:defRPr>
      </a:lvl4pPr>
      <a:lvl5pPr marL="128016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j-ea"/>
          <a:ea typeface="+mj-ea"/>
          <a:cs typeface="+mn-cs"/>
        </a:defRPr>
      </a:lvl5pPr>
      <a:lvl6pPr marL="16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로고 클로즈업&#10;&#10;자동 생성되는 설명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60157" y="0"/>
            <a:ext cx="12191979" cy="6857990"/>
          </a:xfrm>
          <a:prstGeom prst="rect">
            <a:avLst/>
          </a:prstGeom>
        </p:spPr>
      </p:pic>
      <p:sp>
        <p:nvSpPr>
          <p:cNvPr id="82" name="직사각형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5066" y="2272910"/>
            <a:ext cx="5452527" cy="1630907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sz="4400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게임서버 </a:t>
            </a:r>
            <a:br>
              <a:rPr lang="en-US" altLang="ko-KR" sz="4400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4400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포트폴리오</a:t>
            </a:r>
            <a:endParaRPr lang="ko" sz="4400" dirty="0">
              <a:solidFill>
                <a:schemeClr val="tx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ko-KR" altLang="en-US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이창하 </a:t>
            </a:r>
            <a:r>
              <a:rPr lang="en-US" altLang="ko-KR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엑스엘게임즈</a:t>
            </a:r>
            <a:r>
              <a:rPr lang="en-US" altLang="ko-KR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  <a:endParaRPr lang="ko" dirty="0">
              <a:solidFill>
                <a:schemeClr val="tx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928"/>
            <a:ext cx="10058400" cy="1371600"/>
          </a:xfrm>
        </p:spPr>
        <p:txBody>
          <a:bodyPr rtlCol="0">
            <a:normAutofit/>
          </a:bodyPr>
          <a:lstStyle/>
          <a:p>
            <a:pPr algn="ctr" rtl="0"/>
            <a:r>
              <a:rPr lang="ko-KR" altLang="en-US" dirty="0">
                <a:latin typeface="+mj-ea"/>
                <a:ea typeface="+mj-ea"/>
              </a:rPr>
              <a:t>개요</a:t>
            </a:r>
            <a:endParaRPr lang="ko" dirty="0">
              <a:latin typeface="+mj-ea"/>
              <a:ea typeface="+mj-ea"/>
            </a:endParaRP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6927057"/>
              </p:ext>
            </p:extLst>
          </p:nvPr>
        </p:nvGraphicFramePr>
        <p:xfrm>
          <a:off x="1066800" y="2544679"/>
          <a:ext cx="10651958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215644F-6768-0B0C-AAC3-5F702C8FD61F}"/>
              </a:ext>
            </a:extLst>
          </p:cNvPr>
          <p:cNvSpPr txBox="1"/>
          <p:nvPr/>
        </p:nvSpPr>
        <p:spPr>
          <a:xfrm>
            <a:off x="2267451" y="1705592"/>
            <a:ext cx="8452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소개</a:t>
            </a:r>
            <a:r>
              <a:rPr lang="en-US" altLang="ko-KR" b="1" dirty="0"/>
              <a:t>: C#</a:t>
            </a:r>
            <a:r>
              <a:rPr lang="ko-KR" altLang="en-US" b="1" dirty="0"/>
              <a:t>서버</a:t>
            </a:r>
            <a:r>
              <a:rPr lang="en-US" altLang="ko-KR" b="1" dirty="0"/>
              <a:t>, </a:t>
            </a:r>
            <a:r>
              <a:rPr lang="ko-KR" altLang="en-US" b="1" dirty="0"/>
              <a:t>유니티 </a:t>
            </a:r>
            <a:r>
              <a:rPr lang="ko-KR" altLang="en-US" b="1" dirty="0" err="1"/>
              <a:t>클라로</a:t>
            </a:r>
            <a:r>
              <a:rPr lang="ko-KR" altLang="en-US" b="1" dirty="0"/>
              <a:t> 개발된 </a:t>
            </a:r>
            <a:r>
              <a:rPr lang="en-US" altLang="ko-KR" b="1" dirty="0"/>
              <a:t>Room </a:t>
            </a:r>
            <a:r>
              <a:rPr lang="ko-KR" altLang="en-US" b="1" dirty="0"/>
              <a:t>기반의 </a:t>
            </a:r>
            <a:r>
              <a:rPr lang="ko-KR" altLang="en-US" b="1" dirty="0" err="1"/>
              <a:t>클래시로얄</a:t>
            </a:r>
            <a:r>
              <a:rPr lang="ko-KR" altLang="en-US" b="1" dirty="0"/>
              <a:t> 모작 </a:t>
            </a:r>
            <a:r>
              <a:rPr lang="en-US" altLang="ko-KR" b="1" dirty="0"/>
              <a:t>RTS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3542F-AB90-7B87-B21B-B5D9EE62CC9C}"/>
              </a:ext>
            </a:extLst>
          </p:cNvPr>
          <p:cNvSpPr txBox="1"/>
          <p:nvPr/>
        </p:nvSpPr>
        <p:spPr>
          <a:xfrm>
            <a:off x="2218824" y="3114858"/>
            <a:ext cx="1558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2"/>
                </a:solidFill>
              </a:rPr>
              <a:t>개발환경</a:t>
            </a:r>
            <a:endParaRPr lang="ko-KR" altLang="en-US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A8FC9D-3049-C9B8-F795-5FE6871DA80C}"/>
              </a:ext>
            </a:extLst>
          </p:cNvPr>
          <p:cNvSpPr txBox="1"/>
          <p:nvPr/>
        </p:nvSpPr>
        <p:spPr>
          <a:xfrm>
            <a:off x="9480882" y="3114858"/>
            <a:ext cx="1558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2"/>
                </a:solidFill>
              </a:rPr>
              <a:t>URL</a:t>
            </a:r>
            <a:r>
              <a:rPr lang="ko-KR" altLang="en-US" sz="2400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5DEC8-191F-85E0-4D9B-4EB611A06048}"/>
              </a:ext>
            </a:extLst>
          </p:cNvPr>
          <p:cNvSpPr txBox="1"/>
          <p:nvPr/>
        </p:nvSpPr>
        <p:spPr>
          <a:xfrm>
            <a:off x="5714498" y="3114858"/>
            <a:ext cx="1558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chemeClr val="bg2"/>
                </a:solidFill>
              </a:rPr>
              <a:t>개발스택</a:t>
            </a:r>
            <a:r>
              <a:rPr lang="ko-KR" altLang="en-US" sz="2400" dirty="0">
                <a:solidFill>
                  <a:schemeClr val="bg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0BCAE-69ED-A716-BC14-6ECB74AE7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구성 도식화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7CBAFE-2976-5F3C-2FC6-847B507A7FF4}"/>
              </a:ext>
            </a:extLst>
          </p:cNvPr>
          <p:cNvSpPr/>
          <p:nvPr/>
        </p:nvSpPr>
        <p:spPr>
          <a:xfrm>
            <a:off x="2176675" y="2142807"/>
            <a:ext cx="2182185" cy="1681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UNITY 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9EDAD4-B246-85D8-7A2C-2B55E1F22AEC}"/>
              </a:ext>
            </a:extLst>
          </p:cNvPr>
          <p:cNvSpPr txBox="1"/>
          <p:nvPr/>
        </p:nvSpPr>
        <p:spPr>
          <a:xfrm>
            <a:off x="2509972" y="1655304"/>
            <a:ext cx="192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클라이언트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38BAE-8286-F087-8642-4806BE823C3B}"/>
              </a:ext>
            </a:extLst>
          </p:cNvPr>
          <p:cNvSpPr txBox="1"/>
          <p:nvPr/>
        </p:nvSpPr>
        <p:spPr>
          <a:xfrm>
            <a:off x="7216458" y="1177181"/>
            <a:ext cx="192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서버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F73228F-ED71-8F83-FC0E-EDA94D9CAA74}"/>
              </a:ext>
            </a:extLst>
          </p:cNvPr>
          <p:cNvGrpSpPr/>
          <p:nvPr/>
        </p:nvGrpSpPr>
        <p:grpSpPr>
          <a:xfrm>
            <a:off x="7207621" y="1620965"/>
            <a:ext cx="3577245" cy="1362562"/>
            <a:chOff x="5809080" y="2176947"/>
            <a:chExt cx="3577245" cy="136256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DB251DA-AD63-8A89-6CA1-94A0B987EA58}"/>
                </a:ext>
              </a:extLst>
            </p:cNvPr>
            <p:cNvSpPr/>
            <p:nvPr/>
          </p:nvSpPr>
          <p:spPr>
            <a:xfrm>
              <a:off x="5809080" y="2176947"/>
              <a:ext cx="3577245" cy="1362562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3C90DD-5D93-AC57-CE9B-7C7AAFBF1AA7}"/>
                </a:ext>
              </a:extLst>
            </p:cNvPr>
            <p:cNvSpPr txBox="1"/>
            <p:nvPr/>
          </p:nvSpPr>
          <p:spPr>
            <a:xfrm>
              <a:off x="6550286" y="2639213"/>
              <a:ext cx="20948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Matching Server</a:t>
              </a:r>
              <a:endParaRPr lang="ko-KR" altLang="en-US" sz="1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551ACA9-5924-F04A-3B89-2B2311327449}"/>
              </a:ext>
            </a:extLst>
          </p:cNvPr>
          <p:cNvCxnSpPr>
            <a:cxnSpLocks/>
          </p:cNvCxnSpPr>
          <p:nvPr/>
        </p:nvCxnSpPr>
        <p:spPr>
          <a:xfrm>
            <a:off x="4508702" y="3236093"/>
            <a:ext cx="2598012" cy="818915"/>
          </a:xfrm>
          <a:prstGeom prst="straightConnector1">
            <a:avLst/>
          </a:prstGeom>
          <a:ln w="76200">
            <a:solidFill>
              <a:schemeClr val="tx1">
                <a:lumMod val="9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172F3B0-DE1D-FB40-280C-39D388118A30}"/>
              </a:ext>
            </a:extLst>
          </p:cNvPr>
          <p:cNvCxnSpPr>
            <a:cxnSpLocks/>
          </p:cNvCxnSpPr>
          <p:nvPr/>
        </p:nvCxnSpPr>
        <p:spPr>
          <a:xfrm>
            <a:off x="4557638" y="2802992"/>
            <a:ext cx="2549076" cy="0"/>
          </a:xfrm>
          <a:prstGeom prst="straightConnector1">
            <a:avLst/>
          </a:prstGeom>
          <a:ln w="76200">
            <a:solidFill>
              <a:schemeClr val="tx1">
                <a:lumMod val="9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BDB1A11-4EB9-2BD8-E6A9-F3F22C2B042D}"/>
              </a:ext>
            </a:extLst>
          </p:cNvPr>
          <p:cNvSpPr txBox="1"/>
          <p:nvPr/>
        </p:nvSpPr>
        <p:spPr>
          <a:xfrm>
            <a:off x="5499472" y="1839970"/>
            <a:ext cx="41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E8D283-FFF2-37EC-BFBF-1CEA96350A9A}"/>
              </a:ext>
            </a:extLst>
          </p:cNvPr>
          <p:cNvSpPr txBox="1"/>
          <p:nvPr/>
        </p:nvSpPr>
        <p:spPr>
          <a:xfrm rot="940718">
            <a:off x="5423835" y="3402853"/>
            <a:ext cx="192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746A97D-E51D-3433-F4CD-48A87794D2CF}"/>
              </a:ext>
            </a:extLst>
          </p:cNvPr>
          <p:cNvCxnSpPr>
            <a:cxnSpLocks/>
          </p:cNvCxnSpPr>
          <p:nvPr/>
        </p:nvCxnSpPr>
        <p:spPr>
          <a:xfrm>
            <a:off x="8834318" y="3036695"/>
            <a:ext cx="0" cy="576470"/>
          </a:xfrm>
          <a:prstGeom prst="straightConnector1">
            <a:avLst/>
          </a:prstGeom>
          <a:ln w="76200">
            <a:solidFill>
              <a:schemeClr val="tx1">
                <a:lumMod val="9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B079473-CF93-21F6-64DE-B956B2BECEEF}"/>
              </a:ext>
            </a:extLst>
          </p:cNvPr>
          <p:cNvSpPr txBox="1"/>
          <p:nvPr/>
        </p:nvSpPr>
        <p:spPr>
          <a:xfrm>
            <a:off x="8423144" y="3140264"/>
            <a:ext cx="41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C7F1A07F-AD17-8326-62C2-5A3A1F7E91EE}"/>
              </a:ext>
            </a:extLst>
          </p:cNvPr>
          <p:cNvCxnSpPr>
            <a:cxnSpLocks/>
          </p:cNvCxnSpPr>
          <p:nvPr/>
        </p:nvCxnSpPr>
        <p:spPr>
          <a:xfrm>
            <a:off x="4557637" y="2295784"/>
            <a:ext cx="2549077" cy="1"/>
          </a:xfrm>
          <a:prstGeom prst="straightConnector1">
            <a:avLst/>
          </a:prstGeom>
          <a:ln w="76200">
            <a:solidFill>
              <a:schemeClr val="tx1">
                <a:lumMod val="9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878835B-452C-0575-B384-DA64B9B4EC1E}"/>
              </a:ext>
            </a:extLst>
          </p:cNvPr>
          <p:cNvSpPr txBox="1"/>
          <p:nvPr/>
        </p:nvSpPr>
        <p:spPr>
          <a:xfrm>
            <a:off x="5567454" y="2372369"/>
            <a:ext cx="41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9" name="내용 개체 틀 2">
            <a:extLst>
              <a:ext uri="{FF2B5EF4-FFF2-40B4-BE49-F238E27FC236}">
                <a16:creationId xmlns:a16="http://schemas.microsoft.com/office/drawing/2014/main" id="{CC00163A-B40C-3CC6-CC02-4EE50E060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174" y="4149594"/>
            <a:ext cx="7156174" cy="2082115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1: </a:t>
            </a:r>
            <a:r>
              <a:rPr lang="ko-KR" altLang="en-US" sz="1600" dirty="0"/>
              <a:t>클라이언트가 </a:t>
            </a:r>
            <a:r>
              <a:rPr lang="ko-KR" altLang="en-US" sz="1600" dirty="0" err="1"/>
              <a:t>매칭서버에</a:t>
            </a:r>
            <a:r>
              <a:rPr lang="ko-KR" altLang="en-US" sz="1600" dirty="0"/>
              <a:t> 매칭 요청을 전송</a:t>
            </a:r>
            <a:endParaRPr lang="en-US" altLang="ko-KR" sz="1600" dirty="0"/>
          </a:p>
          <a:p>
            <a:r>
              <a:rPr lang="en-US" altLang="ko-KR" sz="1600" dirty="0"/>
              <a:t>2: </a:t>
            </a:r>
            <a:r>
              <a:rPr lang="ko-KR" altLang="en-US" sz="1600" dirty="0"/>
              <a:t>매칭이 완료되면 </a:t>
            </a:r>
            <a:r>
              <a:rPr lang="ko-KR" altLang="en-US" sz="1600" dirty="0" err="1"/>
              <a:t>매칭서버는</a:t>
            </a:r>
            <a:r>
              <a:rPr lang="ko-KR" altLang="en-US" sz="1600" dirty="0"/>
              <a:t> 게임서버에 클라이언트 정보전달</a:t>
            </a:r>
            <a:endParaRPr lang="en-US" altLang="ko-KR" sz="1600" dirty="0"/>
          </a:p>
          <a:p>
            <a:r>
              <a:rPr lang="en-US" altLang="ko-KR" sz="1600" dirty="0"/>
              <a:t>3: </a:t>
            </a:r>
            <a:r>
              <a:rPr lang="ko-KR" altLang="en-US" sz="1600" dirty="0"/>
              <a:t>매칭이 완료되면 클라이언트에 접속할 게임서버 </a:t>
            </a:r>
            <a:r>
              <a:rPr lang="en-US" altLang="ko-KR" sz="1600" dirty="0"/>
              <a:t>IP, Port</a:t>
            </a:r>
            <a:r>
              <a:rPr lang="ko-KR" altLang="en-US" sz="1600" dirty="0"/>
              <a:t>를 전달</a:t>
            </a:r>
            <a:endParaRPr lang="en-US" altLang="ko-KR" sz="1600" dirty="0"/>
          </a:p>
          <a:p>
            <a:r>
              <a:rPr lang="en-US" altLang="ko-KR" sz="1600" dirty="0"/>
              <a:t>4: </a:t>
            </a:r>
            <a:r>
              <a:rPr lang="ko-KR" altLang="en-US" sz="1600" dirty="0"/>
              <a:t>클라이언트는 게임서버와 게임이 </a:t>
            </a:r>
            <a:r>
              <a:rPr lang="ko-KR" altLang="en-US" sz="1600" dirty="0" err="1"/>
              <a:t>종료될때까지</a:t>
            </a:r>
            <a:r>
              <a:rPr lang="ko-KR" altLang="en-US" sz="1600" dirty="0"/>
              <a:t> 커넥션을 맺은 후 게임플레이를 진행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447D2A4-B10D-C51D-65EF-81A821DE7AF4}"/>
              </a:ext>
            </a:extLst>
          </p:cNvPr>
          <p:cNvGrpSpPr/>
          <p:nvPr/>
        </p:nvGrpSpPr>
        <p:grpSpPr>
          <a:xfrm>
            <a:off x="8043092" y="4349875"/>
            <a:ext cx="3568408" cy="1176306"/>
            <a:chOff x="5881267" y="4279894"/>
            <a:chExt cx="3577245" cy="1362562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5B8582D-5DE3-CA03-3314-37C194F18EFA}"/>
                </a:ext>
              </a:extLst>
            </p:cNvPr>
            <p:cNvSpPr/>
            <p:nvPr/>
          </p:nvSpPr>
          <p:spPr>
            <a:xfrm>
              <a:off x="5881267" y="4279894"/>
              <a:ext cx="3577245" cy="1362562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58F7C34-6754-9436-F8EB-CC7325FF7BAF}"/>
                </a:ext>
              </a:extLst>
            </p:cNvPr>
            <p:cNvSpPr txBox="1"/>
            <p:nvPr/>
          </p:nvSpPr>
          <p:spPr>
            <a:xfrm>
              <a:off x="6550286" y="4791898"/>
              <a:ext cx="2251244" cy="392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Game Server</a:t>
              </a:r>
              <a:r>
                <a:rPr lang="ko-KR" altLang="en-US" sz="1600" dirty="0">
                  <a:solidFill>
                    <a:schemeClr val="bg1"/>
                  </a:solidFill>
                </a:rPr>
                <a:t>．．</a:t>
              </a:r>
              <a:r>
                <a:rPr lang="ko-KR" altLang="en-US" sz="1600" dirty="0" err="1">
                  <a:solidFill>
                    <a:schemeClr val="bg1"/>
                  </a:solidFill>
                </a:rPr>
                <a:t>Ｎ</a:t>
              </a:r>
              <a:endParaRPr lang="ko-KR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AC0D695-35C1-3CC6-DF14-E2AC89B570CC}"/>
              </a:ext>
            </a:extLst>
          </p:cNvPr>
          <p:cNvGrpSpPr/>
          <p:nvPr/>
        </p:nvGrpSpPr>
        <p:grpSpPr>
          <a:xfrm>
            <a:off x="7216458" y="3644347"/>
            <a:ext cx="3568408" cy="1176306"/>
            <a:chOff x="5881267" y="4279894"/>
            <a:chExt cx="3577245" cy="136256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ED16AFE-23E0-F9C5-E641-663D759CB2C9}"/>
                </a:ext>
              </a:extLst>
            </p:cNvPr>
            <p:cNvSpPr/>
            <p:nvPr/>
          </p:nvSpPr>
          <p:spPr>
            <a:xfrm>
              <a:off x="5881267" y="4279894"/>
              <a:ext cx="3577245" cy="1362562"/>
            </a:xfrm>
            <a:prstGeom prst="rect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3940E0-6A06-C682-E1F4-E26E18DBB9C8}"/>
                </a:ext>
              </a:extLst>
            </p:cNvPr>
            <p:cNvSpPr txBox="1"/>
            <p:nvPr/>
          </p:nvSpPr>
          <p:spPr>
            <a:xfrm>
              <a:off x="6550286" y="4791898"/>
              <a:ext cx="2251244" cy="392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schemeClr val="bg1"/>
                  </a:solidFill>
                </a:rPr>
                <a:t>Game Server</a:t>
              </a:r>
              <a:r>
                <a:rPr lang="ko-KR" altLang="en-US" sz="1600" dirty="0">
                  <a:solidFill>
                    <a:schemeClr val="bg1"/>
                  </a:solidFill>
                </a:rPr>
                <a:t>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6685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BE938B-9655-BE5B-DB9B-A709DAB9D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FlatBuffer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8F01AD-CBD1-6C37-9918-17C1E378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06" y="1644198"/>
            <a:ext cx="10058400" cy="3849624"/>
          </a:xfrm>
        </p:spPr>
        <p:txBody>
          <a:bodyPr/>
          <a:lstStyle/>
          <a:p>
            <a:r>
              <a:rPr lang="ko-KR" altLang="en-US" dirty="0"/>
              <a:t>서버</a:t>
            </a:r>
            <a:r>
              <a:rPr lang="en-US" altLang="ko-KR" dirty="0"/>
              <a:t>/</a:t>
            </a:r>
            <a:r>
              <a:rPr lang="ko-KR" altLang="en-US" dirty="0" err="1"/>
              <a:t>클라에서는</a:t>
            </a:r>
            <a:r>
              <a:rPr lang="ko-KR" altLang="en-US" dirty="0"/>
              <a:t> </a:t>
            </a:r>
            <a:r>
              <a:rPr lang="en-US" altLang="ko-KR" dirty="0" err="1"/>
              <a:t>FlatBuffer</a:t>
            </a:r>
            <a:r>
              <a:rPr lang="ko-KR" altLang="en-US" dirty="0"/>
              <a:t>를 사용해 패킷 직렬화 사용</a:t>
            </a:r>
            <a:endParaRPr lang="en-US" altLang="ko-KR" dirty="0"/>
          </a:p>
          <a:p>
            <a:r>
              <a:rPr lang="en-US" altLang="ko-KR" dirty="0" err="1"/>
              <a:t>Fbs</a:t>
            </a:r>
            <a:r>
              <a:rPr lang="ko-KR" altLang="en-US" dirty="0"/>
              <a:t>파일의 코드생성은 배치파일로 자동화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34F143-5E7C-2724-ADD7-48A97FF6B871}"/>
              </a:ext>
            </a:extLst>
          </p:cNvPr>
          <p:cNvSpPr txBox="1"/>
          <p:nvPr/>
        </p:nvSpPr>
        <p:spPr>
          <a:xfrm>
            <a:off x="9878033" y="5961476"/>
            <a:ext cx="15600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.</a:t>
            </a:r>
            <a:r>
              <a:rPr lang="en-US" altLang="ko-KR" sz="1200" dirty="0" err="1"/>
              <a:t>fbs</a:t>
            </a:r>
            <a:r>
              <a:rPr lang="en-US" altLang="ko-KR" sz="1200" dirty="0"/>
              <a:t> </a:t>
            </a:r>
            <a:r>
              <a:rPr lang="ko-KR" altLang="en-US" sz="1200" dirty="0"/>
              <a:t>파일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ED6A53-B9D9-119A-47C6-D989B6067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06" y="2398644"/>
            <a:ext cx="6323345" cy="398227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46C03D7-CC09-3FF6-7C09-9D99A1221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933" y="905256"/>
            <a:ext cx="2010766" cy="547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6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2ABF66-01E9-B90F-EF54-9B0F75C76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매치메이킹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D88897-E34F-0A56-973C-22B2C0B16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740" y="1799049"/>
            <a:ext cx="10058400" cy="3849624"/>
          </a:xfrm>
        </p:spPr>
        <p:txBody>
          <a:bodyPr/>
          <a:lstStyle/>
          <a:p>
            <a:r>
              <a:rPr lang="ko-KR" altLang="en-US" dirty="0"/>
              <a:t>주기적으로 </a:t>
            </a:r>
            <a:r>
              <a:rPr lang="ko-KR" altLang="en-US" dirty="0" err="1"/>
              <a:t>매치큐를</a:t>
            </a:r>
            <a:r>
              <a:rPr lang="ko-KR" altLang="en-US" dirty="0"/>
              <a:t> 돌며 플레이어의 점수가 일정 이내</a:t>
            </a:r>
            <a:r>
              <a:rPr lang="en-US" altLang="ko-KR" dirty="0"/>
              <a:t>(</a:t>
            </a:r>
            <a:r>
              <a:rPr lang="en-US" altLang="ko-KR" dirty="0" err="1"/>
              <a:t>MatchWindow</a:t>
            </a:r>
            <a:r>
              <a:rPr lang="en-US" altLang="ko-KR" dirty="0"/>
              <a:t>)</a:t>
            </a:r>
            <a:r>
              <a:rPr lang="ko-KR" altLang="en-US" dirty="0"/>
              <a:t>의 유저만 추출</a:t>
            </a:r>
            <a:r>
              <a:rPr lang="en-US" altLang="ko-KR" dirty="0"/>
              <a:t>, </a:t>
            </a:r>
            <a:r>
              <a:rPr lang="ko-KR" altLang="en-US" dirty="0"/>
              <a:t>만약 매칭에 실패하면 </a:t>
            </a:r>
            <a:r>
              <a:rPr lang="en-US" altLang="ko-KR" dirty="0"/>
              <a:t>100</a:t>
            </a:r>
            <a:r>
              <a:rPr lang="ko-KR" altLang="en-US" dirty="0"/>
              <a:t>점씩 </a:t>
            </a:r>
            <a:r>
              <a:rPr lang="en-US" altLang="ko-KR" dirty="0" err="1"/>
              <a:t>MatchWindow</a:t>
            </a:r>
            <a:r>
              <a:rPr lang="ko-KR" altLang="en-US" dirty="0"/>
              <a:t>를 증가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43E05F7-E710-D6BD-44DD-1A3A141A98CC}"/>
              </a:ext>
            </a:extLst>
          </p:cNvPr>
          <p:cNvGrpSpPr/>
          <p:nvPr/>
        </p:nvGrpSpPr>
        <p:grpSpPr>
          <a:xfrm>
            <a:off x="1380558" y="2755707"/>
            <a:ext cx="7644020" cy="1568656"/>
            <a:chOff x="1728576" y="2155205"/>
            <a:chExt cx="7644020" cy="156865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F564F8-CB63-2DE8-32EB-89C9F1DC540E}"/>
                </a:ext>
              </a:extLst>
            </p:cNvPr>
            <p:cNvSpPr/>
            <p:nvPr/>
          </p:nvSpPr>
          <p:spPr>
            <a:xfrm>
              <a:off x="2819404" y="2524537"/>
              <a:ext cx="5529465" cy="11993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9E4338-63C4-36BE-F851-ECFBC013F4B5}"/>
                </a:ext>
              </a:extLst>
            </p:cNvPr>
            <p:cNvSpPr/>
            <p:nvPr/>
          </p:nvSpPr>
          <p:spPr>
            <a:xfrm>
              <a:off x="3306417" y="2812773"/>
              <a:ext cx="708992" cy="5764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P2</a:t>
              </a:r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011D367-BB69-AD73-A4FA-CFEBAB4E5CA7}"/>
                </a:ext>
              </a:extLst>
            </p:cNvPr>
            <p:cNvSpPr/>
            <p:nvPr/>
          </p:nvSpPr>
          <p:spPr>
            <a:xfrm>
              <a:off x="4065105" y="2812773"/>
              <a:ext cx="708992" cy="5764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P3</a:t>
              </a:r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7C24EAC-AE33-7CBB-DCDC-465726CD8DE4}"/>
                </a:ext>
              </a:extLst>
            </p:cNvPr>
            <p:cNvSpPr/>
            <p:nvPr/>
          </p:nvSpPr>
          <p:spPr>
            <a:xfrm>
              <a:off x="4823793" y="2812773"/>
              <a:ext cx="708992" cy="5764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D8D0983-6080-CF9E-6FC9-DC4952B7DF82}"/>
                </a:ext>
              </a:extLst>
            </p:cNvPr>
            <p:cNvSpPr/>
            <p:nvPr/>
          </p:nvSpPr>
          <p:spPr>
            <a:xfrm>
              <a:off x="5582481" y="2812773"/>
              <a:ext cx="708992" cy="5764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4A1994A-BA90-A12C-51F4-89FD946F48AE}"/>
                </a:ext>
              </a:extLst>
            </p:cNvPr>
            <p:cNvSpPr/>
            <p:nvPr/>
          </p:nvSpPr>
          <p:spPr>
            <a:xfrm>
              <a:off x="6341169" y="2812772"/>
              <a:ext cx="708992" cy="5764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D1125AA-84C4-1366-0A3C-C831708020A9}"/>
                </a:ext>
              </a:extLst>
            </p:cNvPr>
            <p:cNvSpPr/>
            <p:nvPr/>
          </p:nvSpPr>
          <p:spPr>
            <a:xfrm>
              <a:off x="7099857" y="2812772"/>
              <a:ext cx="708992" cy="5764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Pn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0542E6-57AE-7ABF-1451-463851C10B82}"/>
                </a:ext>
              </a:extLst>
            </p:cNvPr>
            <p:cNvSpPr txBox="1"/>
            <p:nvPr/>
          </p:nvSpPr>
          <p:spPr>
            <a:xfrm>
              <a:off x="7563674" y="2155205"/>
              <a:ext cx="1808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MatchQueue</a:t>
              </a:r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4C8D44A-FF15-1083-5F0B-AD790CD1C78C}"/>
                </a:ext>
              </a:extLst>
            </p:cNvPr>
            <p:cNvSpPr/>
            <p:nvPr/>
          </p:nvSpPr>
          <p:spPr>
            <a:xfrm>
              <a:off x="1728576" y="2812772"/>
              <a:ext cx="1035329" cy="57646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P1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13867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592E-7BFD-1727-45E4-37508E33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패킷 처리 </a:t>
            </a:r>
            <a:r>
              <a:rPr lang="en-US" altLang="ko-KR" dirty="0"/>
              <a:t>(</a:t>
            </a:r>
            <a:r>
              <a:rPr lang="ko-KR" altLang="en-US" dirty="0"/>
              <a:t>여기 수정해라</a:t>
            </a:r>
            <a:r>
              <a:rPr lang="en-US" altLang="ko-KR"/>
              <a:t>~~~~)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994997-E73D-6D1F-B405-F1667A489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패킷을 처리하는 함수는 요청에 맞는 작업</a:t>
            </a:r>
            <a:r>
              <a:rPr lang="en-US" altLang="ko-KR" dirty="0"/>
              <a:t>(</a:t>
            </a:r>
            <a:r>
              <a:rPr lang="en-US" altLang="ko-KR" dirty="0" err="1"/>
              <a:t>db</a:t>
            </a:r>
            <a:r>
              <a:rPr lang="ko-KR" altLang="en-US" dirty="0"/>
              <a:t>요청</a:t>
            </a:r>
            <a:r>
              <a:rPr lang="en-US" altLang="ko-KR" dirty="0"/>
              <a:t>, Zone </a:t>
            </a:r>
            <a:r>
              <a:rPr lang="ko-KR" altLang="en-US" dirty="0"/>
              <a:t>작업</a:t>
            </a:r>
            <a:r>
              <a:rPr lang="en-US" altLang="ko-KR" dirty="0"/>
              <a:t>) </a:t>
            </a:r>
            <a:r>
              <a:rPr lang="ko-KR" altLang="en-US" dirty="0"/>
              <a:t>을 알맞은 대상에게 위탁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Zone </a:t>
            </a:r>
            <a:r>
              <a:rPr lang="ko-KR" altLang="en-US" dirty="0"/>
              <a:t>기반 작업은 </a:t>
            </a:r>
            <a:r>
              <a:rPr lang="ko-KR" altLang="en-US" dirty="0" err="1"/>
              <a:t>싱글쓰레드인</a:t>
            </a:r>
            <a:r>
              <a:rPr lang="ko-KR" altLang="en-US" dirty="0"/>
              <a:t> </a:t>
            </a:r>
            <a:r>
              <a:rPr lang="en-US" altLang="ko-KR" dirty="0" err="1"/>
              <a:t>MessageQueue</a:t>
            </a:r>
            <a:r>
              <a:rPr lang="ko-KR" altLang="en-US" dirty="0"/>
              <a:t>에 </a:t>
            </a:r>
            <a:r>
              <a:rPr lang="en-US" altLang="ko-KR" dirty="0"/>
              <a:t>Push </a:t>
            </a:r>
            <a:r>
              <a:rPr lang="ko-KR" altLang="en-US" dirty="0"/>
              <a:t>하는 방식</a:t>
            </a:r>
            <a:r>
              <a:rPr lang="en-US" altLang="ko-KR" dirty="0"/>
              <a:t>. Tick </a:t>
            </a:r>
            <a:r>
              <a:rPr lang="ko-KR" altLang="en-US" dirty="0"/>
              <a:t>쓰레드에서 주기적으로 </a:t>
            </a:r>
            <a:r>
              <a:rPr lang="en-US" altLang="ko-KR" dirty="0"/>
              <a:t>Flush </a:t>
            </a:r>
            <a:r>
              <a:rPr lang="ko-KR" altLang="en-US" dirty="0"/>
              <a:t>하며 </a:t>
            </a:r>
            <a:r>
              <a:rPr lang="en-US" altLang="ko-KR" dirty="0"/>
              <a:t>Zone </a:t>
            </a:r>
            <a:r>
              <a:rPr lang="ko-KR" altLang="en-US" dirty="0"/>
              <a:t>작업을 수행 </a:t>
            </a:r>
            <a:endParaRPr lang="en-US" altLang="ko-KR" dirty="0"/>
          </a:p>
          <a:p>
            <a:r>
              <a:rPr lang="en-US" altLang="ko-KR" dirty="0"/>
              <a:t>Multiple Producer Single Consumer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DA9EAE-BE11-0D1C-7875-5C13580D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A43C-120F-4415-98B3-372D2FECC855}" type="datetime1">
              <a:rPr lang="ko-KR" altLang="en-US" smtClean="0"/>
              <a:t>2025-09-02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AE70A46-E5A5-E4BA-F11E-982C6411A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369" y="3178419"/>
            <a:ext cx="5840831" cy="2572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F95A3BF-78E1-7E64-43BE-A99EFF758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369" y="3517926"/>
            <a:ext cx="5840831" cy="214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345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9929B-8A69-AC6B-C453-F8F9AF15F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819243"/>
          </a:xfrm>
        </p:spPr>
        <p:txBody>
          <a:bodyPr/>
          <a:lstStyle/>
          <a:p>
            <a:r>
              <a:rPr lang="ko-KR" altLang="en-US" dirty="0"/>
              <a:t>월드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2BED4D-6749-FEC1-DACF-F12F32F43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1345130"/>
            <a:ext cx="10058400" cy="3849624"/>
          </a:xfrm>
        </p:spPr>
        <p:txBody>
          <a:bodyPr/>
          <a:lstStyle/>
          <a:p>
            <a:r>
              <a:rPr lang="ko-KR" altLang="en-US" dirty="0"/>
              <a:t>월드는 </a:t>
            </a:r>
            <a:r>
              <a:rPr lang="en-US" altLang="ko-KR" dirty="0"/>
              <a:t>Zone </a:t>
            </a:r>
            <a:r>
              <a:rPr lang="ko-KR" altLang="en-US" dirty="0"/>
              <a:t>단위로 구성되며 </a:t>
            </a:r>
            <a:r>
              <a:rPr lang="en-US" altLang="ko-KR" dirty="0"/>
              <a:t>Zone</a:t>
            </a:r>
            <a:r>
              <a:rPr lang="ko-KR" altLang="en-US" dirty="0"/>
              <a:t>은 </a:t>
            </a:r>
            <a:r>
              <a:rPr lang="en-US" altLang="ko-KR" dirty="0"/>
              <a:t>Section (10x10 </a:t>
            </a:r>
            <a:r>
              <a:rPr lang="ko-KR" altLang="en-US" dirty="0"/>
              <a:t>사이즈</a:t>
            </a:r>
            <a:r>
              <a:rPr lang="en-US" altLang="ko-KR" dirty="0"/>
              <a:t>) </a:t>
            </a:r>
            <a:r>
              <a:rPr lang="ko-KR" altLang="en-US" dirty="0"/>
              <a:t>으로 나뉘어짐</a:t>
            </a:r>
            <a:endParaRPr lang="en-US" altLang="ko-KR" dirty="0"/>
          </a:p>
          <a:p>
            <a:r>
              <a:rPr lang="en-US" altLang="ko-KR" dirty="0"/>
              <a:t>Broadcast</a:t>
            </a:r>
            <a:r>
              <a:rPr lang="ko-KR" altLang="en-US" dirty="0"/>
              <a:t>는 </a:t>
            </a:r>
            <a:r>
              <a:rPr lang="en-US" altLang="ko-KR" dirty="0"/>
              <a:t>Section </a:t>
            </a:r>
            <a:r>
              <a:rPr lang="ko-KR" altLang="en-US" dirty="0"/>
              <a:t>단위로 전송</a:t>
            </a:r>
            <a:endParaRPr lang="en-US" altLang="ko-KR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89AC150-AEAB-611A-0A04-D8333F2F8149}"/>
              </a:ext>
            </a:extLst>
          </p:cNvPr>
          <p:cNvGrpSpPr/>
          <p:nvPr/>
        </p:nvGrpSpPr>
        <p:grpSpPr>
          <a:xfrm>
            <a:off x="1199147" y="2164373"/>
            <a:ext cx="7742321" cy="3928310"/>
            <a:chOff x="1066800" y="2448427"/>
            <a:chExt cx="7742321" cy="392831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6BE8260-8A65-02C5-AE47-B2CE790564F8}"/>
                </a:ext>
              </a:extLst>
            </p:cNvPr>
            <p:cNvSpPr/>
            <p:nvPr/>
          </p:nvSpPr>
          <p:spPr>
            <a:xfrm>
              <a:off x="1066800" y="2448427"/>
              <a:ext cx="7742321" cy="392831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>
                  <a:solidFill>
                    <a:schemeClr val="tx2">
                      <a:lumMod val="50000"/>
                    </a:schemeClr>
                  </a:solidFill>
                </a:rPr>
                <a:t>ZoneManager</a:t>
              </a:r>
              <a:endParaRPr lang="ko-KR" altLang="en-US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47265C7-604C-6725-23CA-F01981F600F7}"/>
                </a:ext>
              </a:extLst>
            </p:cNvPr>
            <p:cNvSpPr/>
            <p:nvPr/>
          </p:nvSpPr>
          <p:spPr>
            <a:xfrm>
              <a:off x="1461837" y="2833437"/>
              <a:ext cx="2947737" cy="126933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1175971-0B7C-67B1-CD09-37FC1ED40004}"/>
                </a:ext>
              </a:extLst>
            </p:cNvPr>
            <p:cNvSpPr/>
            <p:nvPr/>
          </p:nvSpPr>
          <p:spPr>
            <a:xfrm>
              <a:off x="5005137" y="2833437"/>
              <a:ext cx="2947737" cy="126933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Zone</a:t>
              </a:r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0F11FCB-361B-BD01-A168-7F94629BE63C}"/>
                </a:ext>
              </a:extLst>
            </p:cNvPr>
            <p:cNvSpPr/>
            <p:nvPr/>
          </p:nvSpPr>
          <p:spPr>
            <a:xfrm>
              <a:off x="1474871" y="4632158"/>
              <a:ext cx="2947737" cy="126933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/>
            </a:p>
            <a:p>
              <a:pPr algn="ctr"/>
              <a:r>
                <a:rPr lang="en-US" altLang="ko-KR" dirty="0"/>
                <a:t>Zone</a:t>
              </a:r>
              <a:endParaRPr lang="ko-KR" altLang="en-US" dirty="0"/>
            </a:p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A256F06-4621-1C57-BA22-07E1C2F6F54B}"/>
                </a:ext>
              </a:extLst>
            </p:cNvPr>
            <p:cNvSpPr/>
            <p:nvPr/>
          </p:nvSpPr>
          <p:spPr>
            <a:xfrm>
              <a:off x="5018171" y="4632158"/>
              <a:ext cx="2947737" cy="126933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dirty="0"/>
            </a:p>
            <a:p>
              <a:pPr algn="ctr"/>
              <a:r>
                <a:rPr lang="en-US" altLang="ko-KR" dirty="0"/>
                <a:t>Zone</a:t>
              </a:r>
              <a:endParaRPr lang="ko-KR" altLang="en-US" dirty="0"/>
            </a:p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359322B-B3FD-686F-AD7A-8EFE35B3CA49}"/>
                </a:ext>
              </a:extLst>
            </p:cNvPr>
            <p:cNvSpPr/>
            <p:nvPr/>
          </p:nvSpPr>
          <p:spPr>
            <a:xfrm>
              <a:off x="1678405" y="3007895"/>
              <a:ext cx="1263316" cy="4211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Section</a:t>
              </a:r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16918CF-776E-B372-76C4-71D7A89C1C2B}"/>
                </a:ext>
              </a:extLst>
            </p:cNvPr>
            <p:cNvSpPr/>
            <p:nvPr/>
          </p:nvSpPr>
          <p:spPr>
            <a:xfrm>
              <a:off x="3043989" y="3007895"/>
              <a:ext cx="1263316" cy="4211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Section</a:t>
              </a:r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4ED1231-02A3-D269-05D2-BAED1ECB5938}"/>
                </a:ext>
              </a:extLst>
            </p:cNvPr>
            <p:cNvSpPr/>
            <p:nvPr/>
          </p:nvSpPr>
          <p:spPr>
            <a:xfrm>
              <a:off x="1678405" y="3537285"/>
              <a:ext cx="1263316" cy="4211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Section</a:t>
              </a:r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6C5F0E2-5BEA-88DB-3D7F-8F8E11758781}"/>
                </a:ext>
              </a:extLst>
            </p:cNvPr>
            <p:cNvSpPr/>
            <p:nvPr/>
          </p:nvSpPr>
          <p:spPr>
            <a:xfrm>
              <a:off x="3043989" y="3537285"/>
              <a:ext cx="1263316" cy="42110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Section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9586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70FA3-A026-6285-02E3-4AF1E6F9D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플레이어 시야</a:t>
            </a:r>
            <a:r>
              <a:rPr lang="en-US" altLang="ko-KR" dirty="0"/>
              <a:t>(Viewport)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99AB70-29D5-F7DF-F69E-E072E982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패킷전송을</a:t>
            </a:r>
            <a:r>
              <a:rPr lang="ko-KR" altLang="en-US" dirty="0"/>
              <a:t> 최소화 시키기 위해 플레이어는 시야를 보유</a:t>
            </a:r>
            <a:endParaRPr lang="en-US" altLang="ko-KR" dirty="0"/>
          </a:p>
          <a:p>
            <a:r>
              <a:rPr lang="ko-KR" altLang="en-US" dirty="0"/>
              <a:t>시야 내부에 들어오거나 밖으로 나간 액터들을 주기적으로 계산하여</a:t>
            </a:r>
            <a:r>
              <a:rPr lang="en-US" altLang="ko-KR" dirty="0"/>
              <a:t>(0.2</a:t>
            </a:r>
            <a:r>
              <a:rPr lang="ko-KR" altLang="en-US" dirty="0"/>
              <a:t>초</a:t>
            </a:r>
            <a:r>
              <a:rPr lang="en-US" altLang="ko-KR" dirty="0"/>
              <a:t>) </a:t>
            </a:r>
            <a:r>
              <a:rPr lang="ko-KR" altLang="en-US" dirty="0" err="1"/>
              <a:t>클라에게</a:t>
            </a:r>
            <a:r>
              <a:rPr lang="ko-KR" altLang="en-US" dirty="0"/>
              <a:t> 화면에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렌더링 할 대상들을 전송</a:t>
            </a:r>
            <a:endParaRPr lang="en-US" altLang="ko-KR" dirty="0"/>
          </a:p>
          <a:p>
            <a:r>
              <a:rPr lang="ko-KR" altLang="en-US" dirty="0"/>
              <a:t>시야를 업데이트 </a:t>
            </a:r>
            <a:r>
              <a:rPr lang="ko-KR" altLang="en-US" dirty="0" err="1"/>
              <a:t>할때</a:t>
            </a:r>
            <a:r>
              <a:rPr lang="ko-KR" altLang="en-US" dirty="0"/>
              <a:t> 주변의 </a:t>
            </a:r>
            <a:r>
              <a:rPr lang="en-US" altLang="ko-KR" dirty="0"/>
              <a:t>Section</a:t>
            </a:r>
            <a:r>
              <a:rPr lang="ko-KR" altLang="en-US" dirty="0"/>
              <a:t>들을 검사해서 판별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50969D-A2CA-4D5D-B3F1-0C3B681F6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853" y="3618600"/>
            <a:ext cx="3197445" cy="2499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892593-1FEB-07A4-1E93-D6F359441715}"/>
              </a:ext>
            </a:extLst>
          </p:cNvPr>
          <p:cNvSpPr txBox="1"/>
          <p:nvPr/>
        </p:nvSpPr>
        <p:spPr>
          <a:xfrm>
            <a:off x="2695072" y="6118058"/>
            <a:ext cx="2051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Viewport Size = 1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CC22C15-5887-B0D2-8615-07FF2A00C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095" y="3618600"/>
            <a:ext cx="3197445" cy="24994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B0E1E0-A723-103F-EC3E-9591C5A598E0}"/>
              </a:ext>
            </a:extLst>
          </p:cNvPr>
          <p:cNvSpPr txBox="1"/>
          <p:nvPr/>
        </p:nvSpPr>
        <p:spPr>
          <a:xfrm>
            <a:off x="7988969" y="6118058"/>
            <a:ext cx="2177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Viewport Size = 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6104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DA812-F3D2-2397-E7ED-CDCB42E3C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몬스터 </a:t>
            </a:r>
            <a:r>
              <a:rPr lang="en-US" altLang="ko-KR" dirty="0"/>
              <a:t>AI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EAC548-3D33-145F-602A-3D0506809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585938"/>
          </a:xfrm>
        </p:spPr>
        <p:txBody>
          <a:bodyPr/>
          <a:lstStyle/>
          <a:p>
            <a:r>
              <a:rPr lang="ko-KR" altLang="en-US" dirty="0"/>
              <a:t>몬스터는 </a:t>
            </a:r>
            <a:r>
              <a:rPr lang="en-US" altLang="ko-KR" dirty="0"/>
              <a:t>IDLE, MOVING, CHASING, SKILL, DEATH </a:t>
            </a:r>
            <a:r>
              <a:rPr lang="ko-KR" altLang="en-US" dirty="0"/>
              <a:t>상태를 갖고 있습니다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89FE68-6A70-D6D5-EA0C-4CC1A93F8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A43C-120F-4415-98B3-372D2FECC855}" type="datetime1">
              <a:rPr lang="ko-KR" altLang="en-US" smtClean="0"/>
              <a:t>2025-09-02</a:t>
            </a:fld>
            <a:endParaRPr 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CCB8A8A-0827-8EB3-8E67-354A2488CD73}"/>
              </a:ext>
            </a:extLst>
          </p:cNvPr>
          <p:cNvGrpSpPr/>
          <p:nvPr/>
        </p:nvGrpSpPr>
        <p:grpSpPr>
          <a:xfrm>
            <a:off x="1864894" y="2897204"/>
            <a:ext cx="5132471" cy="2929689"/>
            <a:chOff x="2580773" y="2947737"/>
            <a:chExt cx="5132471" cy="292968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7801C8F-13B3-8ABD-9324-EC3C6C6EB491}"/>
                </a:ext>
              </a:extLst>
            </p:cNvPr>
            <p:cNvSpPr/>
            <p:nvPr/>
          </p:nvSpPr>
          <p:spPr>
            <a:xfrm>
              <a:off x="2580774" y="2947737"/>
              <a:ext cx="1720515" cy="9625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IDLE</a:t>
              </a:r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5B7A71-0685-B6A2-192F-163155D7AA59}"/>
                </a:ext>
              </a:extLst>
            </p:cNvPr>
            <p:cNvSpPr/>
            <p:nvPr/>
          </p:nvSpPr>
          <p:spPr>
            <a:xfrm>
              <a:off x="5992729" y="2947737"/>
              <a:ext cx="1720515" cy="9625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MOVING</a:t>
              </a:r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AF8122E-7E7A-6AB9-012F-6A59F537C1DF}"/>
                </a:ext>
              </a:extLst>
            </p:cNvPr>
            <p:cNvSpPr/>
            <p:nvPr/>
          </p:nvSpPr>
          <p:spPr>
            <a:xfrm>
              <a:off x="2580773" y="4914900"/>
              <a:ext cx="1720515" cy="9625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CHASING</a:t>
              </a:r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0B3A5C1-7258-9A2E-6DC9-66564A590093}"/>
                </a:ext>
              </a:extLst>
            </p:cNvPr>
            <p:cNvSpPr/>
            <p:nvPr/>
          </p:nvSpPr>
          <p:spPr>
            <a:xfrm>
              <a:off x="5992729" y="4914900"/>
              <a:ext cx="1720515" cy="9625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SKILL</a:t>
              </a:r>
              <a:endParaRPr lang="ko-KR" altLang="en-US" dirty="0"/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D9FF099E-EB95-7766-B733-4C39041C285C}"/>
                </a:ext>
              </a:extLst>
            </p:cNvPr>
            <p:cNvCxnSpPr/>
            <p:nvPr/>
          </p:nvCxnSpPr>
          <p:spPr>
            <a:xfrm>
              <a:off x="4301288" y="3248526"/>
              <a:ext cx="16914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8D1171FB-7070-3A2F-93F5-EFC8C427FAA7}"/>
                </a:ext>
              </a:extLst>
            </p:cNvPr>
            <p:cNvCxnSpPr/>
            <p:nvPr/>
          </p:nvCxnSpPr>
          <p:spPr>
            <a:xfrm flipH="1">
              <a:off x="4301288" y="3549316"/>
              <a:ext cx="16914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045FB17A-97B3-BE52-9F7C-132DE1EE425B}"/>
                </a:ext>
              </a:extLst>
            </p:cNvPr>
            <p:cNvCxnSpPr/>
            <p:nvPr/>
          </p:nvCxnSpPr>
          <p:spPr>
            <a:xfrm flipH="1">
              <a:off x="3561347" y="3651584"/>
              <a:ext cx="2431382" cy="126331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28DFA1C4-5143-EF8E-CE11-CF903C048E9A}"/>
                </a:ext>
              </a:extLst>
            </p:cNvPr>
            <p:cNvCxnSpPr/>
            <p:nvPr/>
          </p:nvCxnSpPr>
          <p:spPr>
            <a:xfrm flipV="1">
              <a:off x="3350795" y="3910263"/>
              <a:ext cx="0" cy="10046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836A373C-4BDB-E7B0-D82D-ABD1F3EF3641}"/>
                </a:ext>
              </a:extLst>
            </p:cNvPr>
            <p:cNvCxnSpPr/>
            <p:nvPr/>
          </p:nvCxnSpPr>
          <p:spPr>
            <a:xfrm>
              <a:off x="4301288" y="5131468"/>
              <a:ext cx="16914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B87A7B50-3B4E-1910-A714-DEEB6619D3AA}"/>
                </a:ext>
              </a:extLst>
            </p:cNvPr>
            <p:cNvCxnSpPr/>
            <p:nvPr/>
          </p:nvCxnSpPr>
          <p:spPr>
            <a:xfrm flipH="1" flipV="1">
              <a:off x="3964405" y="3910263"/>
              <a:ext cx="2028324" cy="16302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7A98B6E-BA0E-D6EA-DA24-BEF88CA34ABD}"/>
              </a:ext>
            </a:extLst>
          </p:cNvPr>
          <p:cNvSpPr txBox="1"/>
          <p:nvPr/>
        </p:nvSpPr>
        <p:spPr>
          <a:xfrm>
            <a:off x="4208545" y="4059316"/>
            <a:ext cx="2366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거리가 </a:t>
            </a:r>
            <a:r>
              <a:rPr lang="en-US" altLang="ko-KR" sz="1200" dirty="0"/>
              <a:t>10</a:t>
            </a:r>
            <a:r>
              <a:rPr lang="ko-KR" altLang="en-US" sz="1200" dirty="0"/>
              <a:t>이내일때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710294-3D2E-52A0-344C-7713B8E5C791}"/>
              </a:ext>
            </a:extLst>
          </p:cNvPr>
          <p:cNvSpPr txBox="1"/>
          <p:nvPr/>
        </p:nvSpPr>
        <p:spPr>
          <a:xfrm>
            <a:off x="3523746" y="5128924"/>
            <a:ext cx="2366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거리가 </a:t>
            </a:r>
            <a:r>
              <a:rPr lang="en-US" altLang="ko-KR" sz="1200" dirty="0"/>
              <a:t>1</a:t>
            </a:r>
            <a:r>
              <a:rPr lang="ko-KR" altLang="en-US" sz="1200" dirty="0"/>
              <a:t>이내일때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F2752B-008E-C24E-88E1-2AF5A126CA6D}"/>
              </a:ext>
            </a:extLst>
          </p:cNvPr>
          <p:cNvSpPr txBox="1"/>
          <p:nvPr/>
        </p:nvSpPr>
        <p:spPr>
          <a:xfrm>
            <a:off x="3649076" y="2910438"/>
            <a:ext cx="2366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자동으로 상태전환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EDEDC5-B885-2C7A-615C-C54A61FFE290}"/>
              </a:ext>
            </a:extLst>
          </p:cNvPr>
          <p:cNvSpPr txBox="1"/>
          <p:nvPr/>
        </p:nvSpPr>
        <p:spPr>
          <a:xfrm>
            <a:off x="3649076" y="3211227"/>
            <a:ext cx="2366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자동으로 상태전환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5C0F27-81F2-8E7D-A3E5-65317F340533}"/>
              </a:ext>
            </a:extLst>
          </p:cNvPr>
          <p:cNvSpPr txBox="1"/>
          <p:nvPr/>
        </p:nvSpPr>
        <p:spPr>
          <a:xfrm>
            <a:off x="1282363" y="4118409"/>
            <a:ext cx="2366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자동으로 상태전환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3F51A4-AAE6-459F-E9BF-F48EB05FE47E}"/>
              </a:ext>
            </a:extLst>
          </p:cNvPr>
          <p:cNvSpPr txBox="1"/>
          <p:nvPr/>
        </p:nvSpPr>
        <p:spPr>
          <a:xfrm>
            <a:off x="4496551" y="4563577"/>
            <a:ext cx="23667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자동으로 상태전환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64BD41D-298D-49E8-7A78-8FDB9A71D792}"/>
              </a:ext>
            </a:extLst>
          </p:cNvPr>
          <p:cNvSpPr/>
          <p:nvPr/>
        </p:nvSpPr>
        <p:spPr>
          <a:xfrm>
            <a:off x="7513721" y="3937935"/>
            <a:ext cx="1832811" cy="826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DEATH</a:t>
            </a:r>
          </a:p>
          <a:p>
            <a:pPr algn="ctr"/>
            <a:r>
              <a:rPr lang="en-US" altLang="ko-KR" dirty="0"/>
              <a:t>(hp &lt;= 0</a:t>
            </a:r>
            <a:r>
              <a:rPr lang="ko-KR" altLang="en-US" dirty="0" err="1"/>
              <a:t>일때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4855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C04A5-3BD8-30A0-B164-214EAD7CC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데드</a:t>
            </a:r>
            <a:r>
              <a:rPr lang="ko-KR" altLang="en-US" dirty="0"/>
              <a:t> </a:t>
            </a:r>
            <a:r>
              <a:rPr lang="ko-KR" altLang="en-US" dirty="0" err="1"/>
              <a:t>레커닝</a:t>
            </a:r>
            <a:r>
              <a:rPr lang="en-US" altLang="ko-KR" dirty="0"/>
              <a:t> (</a:t>
            </a:r>
            <a:r>
              <a:rPr lang="ko-KR" altLang="en-US" dirty="0"/>
              <a:t>클라이언트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58C443-B637-797E-52B9-6F5EE3179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클라이언트 측에서는 서버 부하감소와 게임 반응성 향상을 위해 </a:t>
            </a:r>
            <a:r>
              <a:rPr lang="ko-KR" altLang="en-US" dirty="0" err="1"/>
              <a:t>데드레커닝을</a:t>
            </a:r>
            <a:r>
              <a:rPr lang="ko-KR" altLang="en-US" dirty="0"/>
              <a:t>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96B92D-1D14-9355-A1FE-164F38144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A43C-120F-4415-98B3-372D2FECC855}" type="datetime1">
              <a:rPr lang="ko-KR" altLang="en-US" smtClean="0"/>
              <a:t>2025-09-02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77AF85-1BD5-1134-024D-ACC83F50D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061" y="2528529"/>
            <a:ext cx="3430701" cy="3216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012A22-E7DD-9F5D-5336-5551D0F0271B}"/>
              </a:ext>
            </a:extLst>
          </p:cNvPr>
          <p:cNvSpPr txBox="1"/>
          <p:nvPr/>
        </p:nvSpPr>
        <p:spPr>
          <a:xfrm>
            <a:off x="2249905" y="5745079"/>
            <a:ext cx="209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MyPlayer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A07C234-21A5-9EB2-5185-7D86CD7C1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023" y="2528529"/>
            <a:ext cx="5573520" cy="16587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875454-2208-0DF3-32E0-0E6D097242E6}"/>
              </a:ext>
            </a:extLst>
          </p:cNvPr>
          <p:cNvSpPr txBox="1"/>
          <p:nvPr/>
        </p:nvSpPr>
        <p:spPr>
          <a:xfrm>
            <a:off x="6359484" y="4276241"/>
            <a:ext cx="2099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OtherPlayer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8765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563F7-937A-0323-AB79-002460412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Dummy Client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D14470-E472-8344-B6C5-7B10C8C26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서버의 성능을 평가하기 위한 쓰레드</a:t>
            </a:r>
            <a:r>
              <a:rPr lang="en-US" altLang="ko-KR" dirty="0"/>
              <a:t>. </a:t>
            </a:r>
            <a:r>
              <a:rPr lang="ko-KR" altLang="en-US" dirty="0"/>
              <a:t>매 초마다 </a:t>
            </a:r>
            <a:r>
              <a:rPr lang="en-US" altLang="ko-KR" dirty="0"/>
              <a:t>Send/</a:t>
            </a:r>
            <a:r>
              <a:rPr lang="en-US" altLang="ko-KR" dirty="0" err="1"/>
              <a:t>Recv</a:t>
            </a:r>
            <a:r>
              <a:rPr lang="en-US" altLang="ko-KR" dirty="0"/>
              <a:t> </a:t>
            </a:r>
            <a:r>
              <a:rPr lang="ko-KR" altLang="en-US" dirty="0"/>
              <a:t>한 </a:t>
            </a:r>
            <a:r>
              <a:rPr lang="ko-KR" altLang="en-US" dirty="0" err="1"/>
              <a:t>패킷수를</a:t>
            </a:r>
            <a:r>
              <a:rPr lang="ko-KR" altLang="en-US" dirty="0"/>
              <a:t> 보고</a:t>
            </a:r>
            <a:endParaRPr lang="en-US" altLang="ko-KR" dirty="0"/>
          </a:p>
          <a:p>
            <a:r>
              <a:rPr lang="ko-KR" altLang="en-US" dirty="0"/>
              <a:t>더미 클라이언트와 함께 사용되어 서버의 처리량을 측정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2E497-2463-4907-ADF2-09F5BF987FC0}"/>
              </a:ext>
            </a:extLst>
          </p:cNvPr>
          <p:cNvSpPr txBox="1"/>
          <p:nvPr/>
        </p:nvSpPr>
        <p:spPr>
          <a:xfrm>
            <a:off x="6408155" y="5637890"/>
            <a:ext cx="4505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1500</a:t>
            </a:r>
            <a:r>
              <a:rPr lang="ko-KR" altLang="en-US" sz="1400" dirty="0"/>
              <a:t>명 접속</a:t>
            </a:r>
            <a:r>
              <a:rPr lang="en-US" altLang="ko-KR" sz="1400" dirty="0"/>
              <a:t>, 0.2</a:t>
            </a:r>
            <a:r>
              <a:rPr lang="ko-KR" altLang="en-US" sz="1400" dirty="0"/>
              <a:t>초당 </a:t>
            </a:r>
            <a:r>
              <a:rPr lang="ko-KR" altLang="en-US" sz="1400" dirty="0" err="1"/>
              <a:t>이동패킷을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보냈을때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패킷처리량</a:t>
            </a:r>
            <a:endParaRPr lang="en-US" altLang="ko-KR" sz="1400" dirty="0"/>
          </a:p>
          <a:p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9D761D-4DE3-444E-D2A1-7F45DB078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833437"/>
            <a:ext cx="5404458" cy="345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96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B1F0F4E-4925-4628-9ADE-EE33B229615D}"/>
              </a:ext>
            </a:extLst>
          </p:cNvPr>
          <p:cNvSpPr txBox="1"/>
          <p:nvPr/>
        </p:nvSpPr>
        <p:spPr>
          <a:xfrm>
            <a:off x="2462076" y="2490281"/>
            <a:ext cx="798195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600" u="sng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8191513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84_TF78438558" id="{3CB50A5E-A4A2-4D8C-92BF-ECB022D5D39A}" vid="{3F4CD028-47E6-4463-B06D-5EDDC9C0696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{D8091B06-A71D-4D4B-9F82-18D0916D4BD1}tf78438558_win32</Template>
  <TotalTime>1560</TotalTime>
  <Words>391</Words>
  <Application>Microsoft Office PowerPoint</Application>
  <PresentationFormat>와이드스크린</PresentationFormat>
  <Paragraphs>91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Malgun Gothic</vt:lpstr>
      <vt:lpstr>Malgun Gothic</vt:lpstr>
      <vt:lpstr>휴먼둥근헤드라인</vt:lpstr>
      <vt:lpstr>Calibri</vt:lpstr>
      <vt:lpstr>Garamond</vt:lpstr>
      <vt:lpstr>SavonVTI</vt:lpstr>
      <vt:lpstr>게임서버  포트폴리오</vt:lpstr>
      <vt:lpstr>개요</vt:lpstr>
      <vt:lpstr>프로젝트 구성 도식화</vt:lpstr>
      <vt:lpstr>FlatBuffer</vt:lpstr>
      <vt:lpstr>매치메이킹</vt:lpstr>
      <vt:lpstr>패킷 처리 (여기 수정해라~~~~)</vt:lpstr>
      <vt:lpstr>월드 구성</vt:lpstr>
      <vt:lpstr>플레이어 시야(Viewport)</vt:lpstr>
      <vt:lpstr>몬스터 AI</vt:lpstr>
      <vt:lpstr>데드 레커닝 (클라이언트)</vt:lpstr>
      <vt:lpstr>Dummy Client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게임서버  포트폴리오</dc:title>
  <dc:creator>창하 이</dc:creator>
  <cp:lastModifiedBy>창하 이</cp:lastModifiedBy>
  <cp:revision>72</cp:revision>
  <dcterms:created xsi:type="dcterms:W3CDTF">2024-02-21T13:01:39Z</dcterms:created>
  <dcterms:modified xsi:type="dcterms:W3CDTF">2025-09-02T15:30:34Z</dcterms:modified>
</cp:coreProperties>
</file>